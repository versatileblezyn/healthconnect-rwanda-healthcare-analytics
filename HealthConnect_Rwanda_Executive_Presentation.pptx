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21040" y="-594360"/>
            <a:ext cx="4389120" cy="4389120"/>
          </a:xfrm>
          <a:prstGeom prst="ellipse">
            <a:avLst/>
          </a:prstGeom>
          <a:solidFill>
            <a:srgbClr val="26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372600" y="1051560"/>
            <a:ext cx="2926080" cy="2926080"/>
          </a:xfrm>
          <a:prstGeom prst="ellipse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12680" y="1828800"/>
            <a:ext cx="1645920" cy="1645920"/>
          </a:xfrm>
          <a:prstGeom prst="ellipse">
            <a:avLst/>
          </a:prstGeom>
          <a:solidFill>
            <a:srgbClr val="E4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5943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9991"/>
                </a:solidFill>
                <a:latin typeface="Aptos"/>
              </a:rPr>
              <a:t>HEALTHCONNECT RWANDA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7498079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ptos"/>
              </a:rPr>
              <a:t>Healthcare Operations
&amp; Performance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401568"/>
            <a:ext cx="53035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D3E5ED"/>
                </a:solidFill>
                <a:latin typeface="Aptos"/>
              </a:rPr>
              <a:t>Executive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160520"/>
            <a:ext cx="960120" cy="64008"/>
          </a:xfrm>
          <a:prstGeom prst="rect">
            <a:avLst/>
          </a:prstGeom>
          <a:solidFill>
            <a:srgbClr val="E4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480560"/>
            <a:ext cx="612648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 dirty="0" err="1">
                <a:solidFill>
                  <a:srgbClr val="FFFFFF"/>
                </a:solidFill>
                <a:latin typeface="Aptos"/>
              </a:rPr>
              <a:t>AnalystLab</a:t>
            </a:r>
            <a:r>
              <a:rPr sz="1500" b="0" i="0" dirty="0">
                <a:solidFill>
                  <a:srgbClr val="FFFFFF"/>
                </a:solidFill>
                <a:latin typeface="Aptos"/>
              </a:rPr>
              <a:t> Africa Experience Lab  |  Week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080760"/>
            <a:ext cx="6675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2C8D3"/>
                </a:solidFill>
                <a:latin typeface="Aptos"/>
              </a:rPr>
              <a:t>POWER BI  •  SQL  •  HEALTHCARE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2A42"/>
                </a:solidFill>
                <a:latin typeface="Aptos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731520" cy="54864"/>
          </a:xfrm>
          <a:prstGeom prst="rect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93192"/>
            <a:ext cx="23317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66FA4"/>
                </a:solidFill>
                <a:latin typeface="Apto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10972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0"/>
                </a:solidFill>
                <a:latin typeface="Aptos"/>
              </a:rPr>
              <a:t>HEALTHCONNECT RWANDA  •  WEEK 6     |   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22A42"/>
                </a:solidFill>
                <a:latin typeface="Aptos"/>
              </a:rPr>
              <a:t>A six-page Power BI dashboard brings key healthcare indicators into one management 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26060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82296" cy="1417320"/>
          </a:xfrm>
          <a:prstGeom prst="rect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130552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580"/>
                </a:solidFill>
                <a:latin typeface="Aptos"/>
              </a:rPr>
              <a:t>REGISTERED PATIENTS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68880"/>
            <a:ext cx="22860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A42"/>
                </a:solidFill>
                <a:latin typeface="Aptos"/>
              </a:rPr>
              <a:t>~20,000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965960"/>
            <a:ext cx="26060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965960"/>
            <a:ext cx="82296" cy="1417320"/>
          </a:xfrm>
          <a:prstGeom prst="rect">
            <a:avLst/>
          </a:prstGeom>
          <a:solidFill>
            <a:srgbClr val="26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0168" y="2130552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580"/>
                </a:solidFill>
                <a:latin typeface="Aptos"/>
              </a:rPr>
              <a:t>APPOINTMENTS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468880"/>
            <a:ext cx="22860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A42"/>
                </a:solidFill>
                <a:latin typeface="Aptos"/>
              </a:rPr>
              <a:t>~5,000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965960"/>
            <a:ext cx="260604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965960"/>
            <a:ext cx="82296" cy="1417320"/>
          </a:xfrm>
          <a:prstGeom prst="rect">
            <a:avLst/>
          </a:prstGeom>
          <a:solidFill>
            <a:srgbClr val="E4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2130552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580"/>
                </a:solidFill>
                <a:latin typeface="Aptos"/>
              </a:rPr>
              <a:t>DOCTORS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468880"/>
            <a:ext cx="22860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A42"/>
                </a:solidFill>
                <a:latin typeface="Aptos"/>
              </a:rPr>
              <a:t>350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965960"/>
            <a:ext cx="25146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06840" y="1965960"/>
            <a:ext cx="82296" cy="1417320"/>
          </a:xfrm>
          <a:prstGeom prst="rect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08008" y="2130552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580"/>
                </a:solidFill>
                <a:latin typeface="Aptos"/>
              </a:rPr>
              <a:t>FACILITIES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2468880"/>
            <a:ext cx="21945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A42"/>
                </a:solidFill>
                <a:latin typeface="Aptos"/>
              </a:rPr>
              <a:t>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703320"/>
            <a:ext cx="5257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3703320"/>
            <a:ext cx="82296" cy="1417320"/>
          </a:xfrm>
          <a:prstGeom prst="rect">
            <a:avLst/>
          </a:prstGeom>
          <a:solidFill>
            <a:srgbClr val="26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7" y="3867911"/>
            <a:ext cx="4937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580"/>
                </a:solidFill>
                <a:latin typeface="Aptos"/>
              </a:rPr>
              <a:t>REPORTED REVENUE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4206240"/>
            <a:ext cx="49377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A42"/>
                </a:solidFill>
                <a:latin typeface="Aptos"/>
              </a:rPr>
              <a:t>1,132,677,500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4736592"/>
            <a:ext cx="4937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580"/>
                </a:solidFill>
                <a:latin typeface="Aptos"/>
              </a:rPr>
              <a:t>Currency not specified in dashboard export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703320"/>
            <a:ext cx="53035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3703320"/>
            <a:ext cx="82296" cy="1417320"/>
          </a:xfrm>
          <a:prstGeom prst="rect">
            <a:avLst/>
          </a:prstGeom>
          <a:solidFill>
            <a:srgbClr val="E4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19088" y="3867911"/>
            <a:ext cx="4983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580"/>
                </a:solidFill>
                <a:latin typeface="Aptos"/>
              </a:rPr>
              <a:t>AVERAGE PATIENT RATING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206240"/>
            <a:ext cx="498348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A42"/>
                </a:solidFill>
                <a:latin typeface="Aptos"/>
              </a:rPr>
              <a:t>2.99 /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4736592"/>
            <a:ext cx="4983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580"/>
                </a:solidFill>
                <a:latin typeface="Aptos"/>
              </a:rPr>
              <a:t>Average of recorded ratings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93742"/>
                </a:solidFill>
                <a:latin typeface="Aptos"/>
              </a:rPr>
              <a:t>Key message: the dashboard provides a baseline view of service activity, finances and patient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2A42"/>
                </a:solidFill>
                <a:latin typeface="Aptos"/>
              </a:rPr>
              <a:t>Project Objectives &amp;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731520" cy="54864"/>
          </a:xfrm>
          <a:prstGeom prst="rect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93192"/>
            <a:ext cx="23317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66FA4"/>
                </a:solidFill>
                <a:latin typeface="Aptos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10972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0"/>
                </a:solidFill>
                <a:latin typeface="Aptos"/>
              </a:rPr>
              <a:t>HEALTHCONNECT RWANDA  •  WEEK 6     |   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25780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4480560"/>
          </a:xfrm>
          <a:prstGeom prst="rect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490472"/>
            <a:ext cx="489204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A42"/>
                </a:solidFill>
                <a:latin typeface="Aptos"/>
              </a:rPr>
              <a:t>PROJECT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20240"/>
            <a:ext cx="4873752" cy="3767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93742"/>
                </a:solidFill>
                <a:latin typeface="Aptos"/>
              </a:rPr>
              <a:t>• Summarise patient and appointment activity
• Compare revenue and claims across categories
• Review staffing, beds and equipment records
• Explore diagnoses and patient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30352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73152" cy="4480560"/>
          </a:xfrm>
          <a:prstGeom prst="rect">
            <a:avLst/>
          </a:prstGeom>
          <a:solidFill>
            <a:srgbClr val="26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490472"/>
            <a:ext cx="4937759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A42"/>
                </a:solidFill>
                <a:latin typeface="Aptos"/>
              </a:rPr>
              <a:t>ANALYTICAL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20240"/>
            <a:ext cx="4919472" cy="3767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93742"/>
                </a:solidFill>
                <a:latin typeface="Aptos"/>
              </a:rPr>
              <a:t>• Imported healthcare tables from PostgreSQL
• Used SQL analysis and Power BI visuals
• Built six dashboard pages
• Used counts, totals, averages and category comparisons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2A42"/>
                </a:solidFill>
                <a:latin typeface="Aptos"/>
              </a:rPr>
              <a:t>Dashboard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731520" cy="54864"/>
          </a:xfrm>
          <a:prstGeom prst="rect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93192"/>
            <a:ext cx="23317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66FA4"/>
                </a:solidFill>
                <a:latin typeface="Aptos"/>
              </a:rP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10972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0"/>
                </a:solidFill>
                <a:latin typeface="Aptos"/>
              </a:rPr>
              <a:t>HEALTHCONNECT RWANDA  •  WEEK 6     |   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72768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09991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81912"/>
            <a:ext cx="23317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A42"/>
                </a:solidFill>
                <a:latin typeface="Aptos"/>
              </a:rPr>
              <a:t>Executive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57400"/>
            <a:ext cx="23317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580"/>
                </a:solidFill>
                <a:latin typeface="Aptos"/>
              </a:rPr>
              <a:t>Core KPIs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4290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572768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09991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581912"/>
            <a:ext cx="23317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A42"/>
                </a:solidFill>
                <a:latin typeface="Aptos"/>
              </a:rPr>
              <a:t>Patient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057400"/>
            <a:ext cx="23317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580"/>
                </a:solidFill>
                <a:latin typeface="Aptos"/>
              </a:rPr>
              <a:t>Demographics &amp; chronic conditions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4290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572768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09991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581912"/>
            <a:ext cx="23317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A42"/>
                </a:solidFill>
                <a:latin typeface="Aptos"/>
              </a:rPr>
              <a:t>Clinical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057400"/>
            <a:ext cx="23317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580"/>
                </a:solidFill>
                <a:latin typeface="Aptos"/>
              </a:rPr>
              <a:t>Diagnosis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66160"/>
            <a:ext cx="34290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3721608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09991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730752"/>
            <a:ext cx="23317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A42"/>
                </a:solidFill>
                <a:latin typeface="Aptos"/>
              </a:rPr>
              <a:t>Financial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206240"/>
            <a:ext cx="23317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580"/>
                </a:solidFill>
                <a:latin typeface="Aptos"/>
              </a:rPr>
              <a:t>Revenue, claims &amp; payments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566160"/>
            <a:ext cx="34290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3721608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09991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730752"/>
            <a:ext cx="23317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A42"/>
                </a:solidFill>
                <a:latin typeface="Aptos"/>
              </a:rPr>
              <a:t>Operational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206240"/>
            <a:ext cx="23317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580"/>
                </a:solidFill>
                <a:latin typeface="Aptos"/>
              </a:rPr>
              <a:t>Staff, beds &amp; equipment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566160"/>
            <a:ext cx="342900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3721608"/>
            <a:ext cx="5943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09991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730752"/>
            <a:ext cx="23317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A42"/>
                </a:solidFill>
                <a:latin typeface="Aptos"/>
              </a:rPr>
              <a:t>Patient 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4206240"/>
            <a:ext cx="23317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580"/>
                </a:solidFill>
                <a:latin typeface="Aptos"/>
              </a:rPr>
              <a:t>Ratings &amp; feedback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2A42"/>
                </a:solidFill>
                <a:latin typeface="Aptos"/>
              </a:rPr>
              <a:t>Patient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731520" cy="54864"/>
          </a:xfrm>
          <a:prstGeom prst="rect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93192"/>
            <a:ext cx="23317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66FA4"/>
                </a:solidFill>
                <a:latin typeface="Aptos"/>
              </a:rPr>
              <a:t>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10972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0"/>
                </a:solidFill>
                <a:latin typeface="Aptos"/>
              </a:rPr>
              <a:t>HEALTHCONNECT RWANDA  •  WEEK 6     |    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9260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82296" cy="1234440"/>
          </a:xfrm>
          <a:prstGeom prst="rect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490472"/>
            <a:ext cx="2606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580"/>
                </a:solidFill>
                <a:latin typeface="Aptos"/>
              </a:rPr>
              <a:t>GENDER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28800"/>
            <a:ext cx="26060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A42"/>
                </a:solidFill>
                <a:latin typeface="Aptos"/>
              </a:rPr>
              <a:t>~50 /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76272"/>
            <a:ext cx="2606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67580"/>
                </a:solidFill>
                <a:latin typeface="Aptos"/>
              </a:rPr>
              <a:t>50.45% vs 49.55%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1325880"/>
            <a:ext cx="76809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0" y="1325880"/>
            <a:ext cx="73152" cy="1234440"/>
          </a:xfrm>
          <a:prstGeom prst="rect">
            <a:avLst/>
          </a:prstGeom>
          <a:solidFill>
            <a:srgbClr val="26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41648" y="1490472"/>
            <a:ext cx="73152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A42"/>
                </a:solidFill>
                <a:latin typeface="Aptos"/>
              </a:rPr>
              <a:t>AGE GROUPS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1920240"/>
            <a:ext cx="7296912" cy="521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93742"/>
                </a:solidFill>
                <a:latin typeface="Aptos"/>
              </a:rPr>
              <a:t>Under 18  •  18–29  •  30–44  •  45–59  •  60+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52578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880360"/>
            <a:ext cx="73152" cy="2194560"/>
          </a:xfrm>
          <a:prstGeom prst="rect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3044952"/>
            <a:ext cx="489204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A42"/>
                </a:solidFill>
                <a:latin typeface="Aptos"/>
              </a:rPr>
              <a:t>CHRONIC CONDITIONS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3474720"/>
            <a:ext cx="4873752" cy="1481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293742"/>
                </a:solidFill>
                <a:latin typeface="Aptos"/>
              </a:rPr>
              <a:t>The dashboard includes asthma, hypertension and diabetes.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88036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2880360"/>
            <a:ext cx="73152" cy="2194560"/>
          </a:xfrm>
          <a:prstGeom prst="rect">
            <a:avLst/>
          </a:prstGeom>
          <a:solidFill>
            <a:srgbClr val="26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3044952"/>
            <a:ext cx="4937759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A42"/>
                </a:solidFill>
                <a:latin typeface="Aptos"/>
              </a:rPr>
              <a:t>GEOGRAPHIC DISTRIBUTION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474720"/>
            <a:ext cx="4919472" cy="1481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93742"/>
                </a:solidFill>
                <a:latin typeface="Aptos"/>
              </a:rPr>
              <a:t>Patient counts are displayed for Western, Eastern, Southern, Kigali City and Northern provinces.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32120"/>
            <a:ext cx="10698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93742"/>
                </a:solidFill>
                <a:latin typeface="Aptos"/>
              </a:rPr>
              <a:t>Interpretation: the visuals provide a starting point for understanding who is represented in the registered patient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2A42"/>
                </a:solidFill>
                <a:latin typeface="Aptos"/>
              </a:rPr>
              <a:t>Clinical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731520" cy="54864"/>
          </a:xfrm>
          <a:prstGeom prst="rect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93192"/>
            <a:ext cx="23317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66FA4"/>
                </a:solidFill>
                <a:latin typeface="Aptos"/>
              </a:rPr>
              <a:t>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10972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0"/>
                </a:solidFill>
                <a:latin typeface="Aptos"/>
              </a:rPr>
              <a:t>HEALTHCONNECT RWANDA  •  WEEK 6     |   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6984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22A42"/>
                </a:solidFill>
                <a:latin typeface="Aptos"/>
              </a:rPr>
              <a:t>Diagnosis Analysis is the clinical visual supported by the available transaction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2743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93742"/>
                </a:solidFill>
                <a:latin typeface="Aptos"/>
              </a:rPr>
              <a:t>Gastritis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56231"/>
            <a:ext cx="5303520" cy="228600"/>
          </a:xfrm>
          <a:prstGeom prst="roundRect">
            <a:avLst/>
          </a:prstGeom>
          <a:solidFill>
            <a:srgbClr val="DA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429000" y="1856231"/>
            <a:ext cx="4023360" cy="228600"/>
          </a:xfrm>
          <a:prstGeom prst="roundRect">
            <a:avLst/>
          </a:prstGeom>
          <a:solidFill>
            <a:srgbClr val="26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450592"/>
            <a:ext cx="2743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93742"/>
                </a:solidFill>
                <a:latin typeface="Aptos"/>
              </a:rPr>
              <a:t>Diabetes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478024"/>
            <a:ext cx="5303520" cy="228600"/>
          </a:xfrm>
          <a:prstGeom prst="roundRect">
            <a:avLst/>
          </a:prstGeom>
          <a:solidFill>
            <a:srgbClr val="DA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29000" y="2478024"/>
            <a:ext cx="4251960" cy="228600"/>
          </a:xfrm>
          <a:prstGeom prst="roundRect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072384"/>
            <a:ext cx="2743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93742"/>
                </a:solidFill>
                <a:latin typeface="Aptos"/>
              </a:rPr>
              <a:t>Hypertension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3099816"/>
            <a:ext cx="5303520" cy="228600"/>
          </a:xfrm>
          <a:prstGeom prst="roundRect">
            <a:avLst/>
          </a:prstGeom>
          <a:solidFill>
            <a:srgbClr val="DA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429000" y="3099816"/>
            <a:ext cx="4023360" cy="228600"/>
          </a:xfrm>
          <a:prstGeom prst="roundRect">
            <a:avLst/>
          </a:prstGeom>
          <a:solidFill>
            <a:srgbClr val="E4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694176"/>
            <a:ext cx="2743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93742"/>
                </a:solidFill>
                <a:latin typeface="Aptos"/>
              </a:rPr>
              <a:t>Malaria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721608"/>
            <a:ext cx="5303520" cy="228600"/>
          </a:xfrm>
          <a:prstGeom prst="roundRect">
            <a:avLst/>
          </a:prstGeom>
          <a:solidFill>
            <a:srgbClr val="DA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29000" y="3721608"/>
            <a:ext cx="4251960" cy="228600"/>
          </a:xfrm>
          <a:prstGeom prst="roundRect">
            <a:avLst/>
          </a:prstGeom>
          <a:solidFill>
            <a:srgbClr val="26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315968"/>
            <a:ext cx="2743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93742"/>
                </a:solidFill>
                <a:latin typeface="Aptos"/>
              </a:rPr>
              <a:t>Upper respiratory infection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343400"/>
            <a:ext cx="5303520" cy="228600"/>
          </a:xfrm>
          <a:prstGeom prst="roundRect">
            <a:avLst/>
          </a:prstGeom>
          <a:solidFill>
            <a:srgbClr val="DA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429000" y="4343400"/>
            <a:ext cx="4023360" cy="228600"/>
          </a:xfrm>
          <a:prstGeom prst="roundRect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052560" y="1828800"/>
            <a:ext cx="242316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52560" y="1828800"/>
            <a:ext cx="73152" cy="3337560"/>
          </a:xfrm>
          <a:prstGeom prst="rect">
            <a:avLst/>
          </a:prstGeom>
          <a:solidFill>
            <a:srgbClr val="E4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53728" y="1993392"/>
            <a:ext cx="20574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A42"/>
                </a:solidFill>
                <a:latin typeface="Aptos"/>
              </a:rPr>
              <a:t>DATA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423160"/>
            <a:ext cx="2039112" cy="2624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93742"/>
                </a:solidFill>
                <a:latin typeface="Aptos"/>
              </a:rPr>
              <a:t>Separate transaction records for laboratory tests, prescriptions, admissions and referrals were not in the imported tables.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32120"/>
            <a:ext cx="10515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667580"/>
                </a:solidFill>
                <a:latin typeface="Aptos"/>
              </a:rPr>
              <a:t>The diagnosis chart highlights recorded conditions; it does not establish causes or treatment outcomes.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2A42"/>
                </a:solidFill>
                <a:latin typeface="Aptos"/>
              </a:rPr>
              <a:t>Financial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731520" cy="54864"/>
          </a:xfrm>
          <a:prstGeom prst="rect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93192"/>
            <a:ext cx="23317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66FA4"/>
                </a:solidFill>
                <a:latin typeface="Aptos"/>
              </a:rPr>
              <a:t>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10972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0"/>
                </a:solidFill>
                <a:latin typeface="Aptos"/>
              </a:rPr>
              <a:t>HEALTHCONNECT RWANDA  •  WEEK 6     |   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874519"/>
          </a:xfrm>
          <a:prstGeom prst="rect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490472"/>
            <a:ext cx="4937759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A42"/>
                </a:solidFill>
                <a:latin typeface="Aptos"/>
              </a:rPr>
              <a:t>REVENUE TREND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20240"/>
            <a:ext cx="4919472" cy="11612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t>The monthly chart declines across the months shown. Verify the monthly figures and date order, then review the pattern alongside service and billing activity; the chart alone does not establish the cause.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30352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73152" cy="1874519"/>
          </a:xfrm>
          <a:prstGeom prst="rect">
            <a:avLst/>
          </a:prstGeom>
          <a:solidFill>
            <a:srgbClr val="26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490472"/>
            <a:ext cx="4937759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A42"/>
                </a:solidFill>
                <a:latin typeface="Aptos"/>
              </a:rPr>
              <a:t>PAYMENT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20240"/>
            <a:ext cx="4919472" cy="11612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93742"/>
                </a:solidFill>
                <a:latin typeface="Aptos"/>
              </a:rPr>
              <a:t>About 60,000 payment records are shown across Card, Mobile Money, Insurance and Cash, at roughly one quarter per category.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530352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73152" cy="1874519"/>
          </a:xfrm>
          <a:prstGeom prst="rect">
            <a:avLst/>
          </a:prstGeom>
          <a:solidFill>
            <a:srgbClr val="E4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3730752"/>
            <a:ext cx="4937759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A42"/>
                </a:solidFill>
                <a:latin typeface="Aptos"/>
              </a:rPr>
              <a:t>REVENUE BY FACILITY &amp; DEPARTMENT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160520"/>
            <a:ext cx="4919472" cy="11612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t>The dashboard compares billed amounts by facility ID and department name. Facility names were not available in the inspected data, so facility IDs remain.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66160"/>
            <a:ext cx="530352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566160"/>
            <a:ext cx="73152" cy="1874519"/>
          </a:xfrm>
          <a:prstGeom prst="rect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3730752"/>
            <a:ext cx="4937759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A42"/>
                </a:solidFill>
                <a:latin typeface="Aptos"/>
              </a:rPr>
              <a:t>INSURANCE CLAIMS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160520"/>
            <a:ext cx="4919472" cy="11612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93742"/>
                </a:solidFill>
                <a:latin typeface="Aptos"/>
              </a:rPr>
              <a:t>Claim counts are compared for Radiant, RSSB, Private and MMI; the displayed bars are similar in height.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2A42"/>
                </a:solidFill>
                <a:latin typeface="Aptos"/>
              </a:rPr>
              <a:t>Operational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731520" cy="54864"/>
          </a:xfrm>
          <a:prstGeom prst="rect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93192"/>
            <a:ext cx="23317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66FA4"/>
                </a:solidFill>
                <a:latin typeface="Aptos"/>
              </a:rPr>
              <a:t>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10972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0"/>
                </a:solidFill>
                <a:latin typeface="Aptos"/>
              </a:rPr>
              <a:t>HEALTHCONNECT RWANDA  •  WEEK 6     |   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27432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82296" cy="1280160"/>
          </a:xfrm>
          <a:prstGeom prst="rect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536192"/>
            <a:ext cx="2423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580"/>
                </a:solidFill>
                <a:latin typeface="Aptos"/>
              </a:rPr>
              <a:t>DOCTORS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74519"/>
            <a:ext cx="24231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A42"/>
                </a:solidFill>
                <a:latin typeface="Aptos"/>
              </a:rPr>
              <a:t>350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371600"/>
            <a:ext cx="27432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6160" y="1371600"/>
            <a:ext cx="82296" cy="1280160"/>
          </a:xfrm>
          <a:prstGeom prst="rect">
            <a:avLst/>
          </a:prstGeom>
          <a:solidFill>
            <a:srgbClr val="26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67328" y="1536192"/>
            <a:ext cx="2423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580"/>
                </a:solidFill>
                <a:latin typeface="Aptos"/>
              </a:rPr>
              <a:t>FACILITIES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1874519"/>
            <a:ext cx="24231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A42"/>
                </a:solidFill>
                <a:latin typeface="Aptos"/>
              </a:rPr>
              <a:t>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371600"/>
            <a:ext cx="50292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92240" y="1371600"/>
            <a:ext cx="82296" cy="1280160"/>
          </a:xfrm>
          <a:prstGeom prst="rect">
            <a:avLst/>
          </a:prstGeom>
          <a:solidFill>
            <a:srgbClr val="E4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93407" y="1536192"/>
            <a:ext cx="4709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580"/>
                </a:solidFill>
                <a:latin typeface="Aptos"/>
              </a:rPr>
              <a:t>BED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7" y="1874519"/>
            <a:ext cx="47091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dirty="0"/>
              <a:t>100% recorded as Available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063240"/>
            <a:ext cx="52578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063240"/>
            <a:ext cx="73152" cy="2194560"/>
          </a:xfrm>
          <a:prstGeom prst="rect">
            <a:avLst/>
          </a:prstGeom>
          <a:solidFill>
            <a:srgbClr val="26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3227832"/>
            <a:ext cx="489204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A42"/>
                </a:solidFill>
                <a:latin typeface="Aptos"/>
              </a:rPr>
              <a:t>STAFF DISTRIBUTION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657600"/>
            <a:ext cx="4873752" cy="1481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93742"/>
                </a:solidFill>
                <a:latin typeface="Aptos"/>
              </a:rPr>
              <a:t>The displayed staff chart compares counts by department; the visible role is Doctor.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06324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3063240"/>
            <a:ext cx="73152" cy="2194560"/>
          </a:xfrm>
          <a:prstGeom prst="rect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9088" y="3227832"/>
            <a:ext cx="4937759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A42"/>
                </a:solidFill>
                <a:latin typeface="Aptos"/>
              </a:rPr>
              <a:t>EQUIPMENT &amp; ACTIVITY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3657600"/>
            <a:ext cx="4919472" cy="1481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93742"/>
                </a:solidFill>
                <a:latin typeface="Aptos"/>
              </a:rPr>
              <a:t>Equipment records are compared by facility. Appointment counts are compared across facility and department IDs.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69280"/>
            <a:ext cx="10607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93742"/>
                </a:solidFill>
                <a:latin typeface="Aptos"/>
              </a:rPr>
              <a:t>Inventory counts and recorded status are not the same as actual utilisation.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2A42"/>
                </a:solidFill>
                <a:latin typeface="Aptos"/>
              </a:rPr>
              <a:t>Patient Experience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731520" cy="54864"/>
          </a:xfrm>
          <a:prstGeom prst="rect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93192"/>
            <a:ext cx="23317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66FA4"/>
                </a:solidFill>
                <a:latin typeface="Aptos"/>
              </a:rPr>
              <a:t>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10972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0"/>
                </a:solidFill>
                <a:latin typeface="Aptos"/>
              </a:rPr>
              <a:t>HEALTHCONNECT RWANDA  •  WEEK 6     |    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28803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82296" cy="1371600"/>
          </a:xfrm>
          <a:prstGeom prst="rect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536192"/>
            <a:ext cx="2560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580"/>
                </a:solidFill>
                <a:latin typeface="Aptos"/>
              </a:rPr>
              <a:t>AVERAGE RATING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74519"/>
            <a:ext cx="25603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A42"/>
                </a:solidFill>
                <a:latin typeface="Aptos"/>
              </a:rPr>
              <a:t>2.99 /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371600"/>
            <a:ext cx="76809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0" y="1371600"/>
            <a:ext cx="73152" cy="1371600"/>
          </a:xfrm>
          <a:prstGeom prst="rect">
            <a:avLst/>
          </a:prstGeom>
          <a:solidFill>
            <a:srgbClr val="26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41648" y="1536192"/>
            <a:ext cx="73152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A42"/>
                </a:solidFill>
                <a:latin typeface="Aptos"/>
              </a:rPr>
              <a:t>RATING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1648" y="1965960"/>
            <a:ext cx="7296912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93742"/>
                </a:solidFill>
                <a:latin typeface="Aptos"/>
              </a:rPr>
              <a:t>The dashboard counts ratings from 1 to 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54680"/>
            <a:ext cx="52578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154680"/>
            <a:ext cx="73152" cy="2148840"/>
          </a:xfrm>
          <a:prstGeom prst="rect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3319272"/>
            <a:ext cx="489204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A42"/>
                </a:solidFill>
                <a:latin typeface="Aptos"/>
              </a:rPr>
              <a:t>FEEDBACK CATEGORIES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749040"/>
            <a:ext cx="4873752" cy="1435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93742"/>
                </a:solidFill>
                <a:latin typeface="Aptos"/>
              </a:rPr>
              <a:t>The visual groups feedback as Good, Poor, Excellent and Average.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154680"/>
            <a:ext cx="530352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154680"/>
            <a:ext cx="73152" cy="2148840"/>
          </a:xfrm>
          <a:prstGeom prst="rect">
            <a:avLst/>
          </a:prstGeom>
          <a:solidFill>
            <a:srgbClr val="E4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3319272"/>
            <a:ext cx="4937759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A42"/>
                </a:solidFill>
                <a:latin typeface="Aptos"/>
              </a:rPr>
              <a:t>FACILITY &amp; DEPARTMENT RATINGS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749040"/>
            <a:ext cx="4919472" cy="1435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93742"/>
                </a:solidFill>
                <a:latin typeface="Aptos"/>
              </a:rPr>
              <a:t>Average ratings are compared by facility and department IDs. A blank facility category appears in the hospital ranking.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69280"/>
            <a:ext cx="10607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67580"/>
                </a:solidFill>
                <a:latin typeface="Aptos"/>
              </a:rPr>
              <a:t>The feedback table has no visible date field, so complaint trends over time are not shown.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2A42"/>
                </a:solidFill>
                <a:latin typeface="Aptos"/>
              </a:rPr>
              <a:t>What the Dashboard Tells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731520" cy="54864"/>
          </a:xfrm>
          <a:prstGeom prst="rect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93192"/>
            <a:ext cx="23317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66FA4"/>
                </a:solidFill>
                <a:latin typeface="Aptos"/>
              </a:rPr>
              <a:t>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10972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0"/>
                </a:solidFill>
                <a:latin typeface="Aptos"/>
              </a:rPr>
              <a:t>HEALTHCONNECT RWANDA  •  WEEK 6     |   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74420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1920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09991"/>
                </a:solidFill>
                <a:latin typeface="Aptos"/>
              </a:rPr>
              <a:t>PATIENTS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472184"/>
            <a:ext cx="83210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93742"/>
                </a:solidFill>
                <a:latin typeface="Aptos"/>
              </a:rPr>
              <a:t>The registered population is close to 20,000, with a near-even gender split.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41448"/>
            <a:ext cx="1074420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1920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09991"/>
                </a:solidFill>
                <a:latin typeface="Aptos"/>
              </a:rPr>
              <a:t>FINANCE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587752"/>
            <a:ext cx="83210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t>The displayed revenue trend falls over time; verify the monthly values and date order. The chart alone does not establish the cause.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57015"/>
            <a:ext cx="1074420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721607"/>
            <a:ext cx="1920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09991"/>
                </a:solidFill>
                <a:latin typeface="Aptos"/>
              </a:rPr>
              <a:t>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703320"/>
            <a:ext cx="83210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93742"/>
                </a:solidFill>
                <a:latin typeface="Aptos"/>
              </a:rPr>
              <a:t>The average rating is 2.99 out of 5, creating an opportunity to review rating distribution and comments.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72584"/>
            <a:ext cx="1074420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837176"/>
            <a:ext cx="1920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09991"/>
                </a:solidFill>
                <a:latin typeface="Aptos"/>
              </a:rPr>
              <a:t>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818888"/>
            <a:ext cx="83210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93742"/>
                </a:solidFill>
                <a:latin typeface="Aptos"/>
              </a:rPr>
              <a:t>The current data supports facility/department activity comparisons, but utilisation measures are limited by available fields.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2A42"/>
                </a:solidFill>
                <a:latin typeface="Aptos"/>
              </a:rPr>
              <a:t>Recommendations for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731520" cy="54864"/>
          </a:xfrm>
          <a:prstGeom prst="rect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93192"/>
            <a:ext cx="23317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66FA4"/>
                </a:solidFill>
                <a:latin typeface="Aptos"/>
              </a:rPr>
              <a:t>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10972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0"/>
                </a:solidFill>
                <a:latin typeface="Aptos"/>
              </a:rPr>
              <a:t>HEALTHCONNECT RWANDA  •  WEEK 6     |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5262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93742"/>
                </a:solidFill>
                <a:latin typeface="Aptos"/>
              </a:defRPr>
            </a:pPr>
            <a:r>
              <a:t>•  Verify the monthly revenue figures and date order, then review the trend alongside appointment volumes and billing activity.</a:t>
            </a:r>
          </a:p>
          <a:p>
            <a:r>
              <a:t>•  Use patient demographics, province and chronic-condition patterns to inform service planning.</a:t>
            </a:r>
          </a:p>
          <a:p>
            <a:r>
              <a:t>•  Review satisfaction ratings and feedback comments to identify possible improvement areas.</a:t>
            </a:r>
          </a:p>
          <a:p>
            <a:r>
              <a:t>•  Compare facility and department activity when considering staff and resource allocation.</a:t>
            </a:r>
          </a:p>
          <a:p>
            <a:r>
              <a:t>•  Add clinical transaction data for laboratory tests, prescriptions, admissions and referrals.</a:t>
            </a:r>
          </a:p>
          <a:p>
            <a:r>
              <a:t>•  Improve descriptive facility/department labels and operational status fields where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67580"/>
                </a:solidFill>
                <a:latin typeface="Aptos"/>
              </a:rPr>
              <a:t>Recommendations are based on the patterns and data gaps visible in the current dashboard.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2A42"/>
                </a:solidFill>
                <a:latin typeface="Aptos"/>
              </a:rPr>
              <a:t>Scope &amp; Data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731520" cy="54864"/>
          </a:xfrm>
          <a:prstGeom prst="rect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393192"/>
            <a:ext cx="23317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66FA4"/>
                </a:solidFill>
                <a:latin typeface="Aptos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10972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67580"/>
                </a:solidFill>
                <a:latin typeface="Aptos"/>
              </a:rPr>
              <a:t>HEALTHCONNECT RWANDA  •  WEEK 6     |   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0352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4297680"/>
          </a:xfrm>
          <a:prstGeom prst="rect">
            <a:avLst/>
          </a:prstGeom>
          <a:solidFill>
            <a:srgbClr val="20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490472"/>
            <a:ext cx="4937759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A42"/>
                </a:solidFill>
                <a:latin typeface="Aptos"/>
              </a:rPr>
              <a:t>AVAILABLE IN THE CURRENT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20240"/>
            <a:ext cx="4919472" cy="3584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93742"/>
                </a:solidFill>
                <a:latin typeface="Aptos"/>
              </a:rPr>
              <a:t>• Patient, appointment and diagnosis records
• Billing, payment and insurance claim records
• Staff and equipment inventory
• Patient feedback ratings and comments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30352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73152" cy="4297680"/>
          </a:xfrm>
          <a:prstGeom prst="rect">
            <a:avLst/>
          </a:prstGeom>
          <a:solidFill>
            <a:srgbClr val="E4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490472"/>
            <a:ext cx="4937759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A42"/>
                </a:solidFill>
                <a:latin typeface="Aptos"/>
              </a:rPr>
              <a:t>NOT AVAILABLE AS SEPARATE TRANSACTIONS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20240"/>
            <a:ext cx="4919472" cy="3584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93742"/>
                </a:solidFill>
                <a:latin typeface="Aptos"/>
              </a:rPr>
              <a:t>• Laboratory test transactions
• Prescription transactions
• Admission transactions
• Referral transactions
• Feedback date for complaint trends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97880"/>
            <a:ext cx="10607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67580"/>
                </a:solidFill>
                <a:latin typeface="Aptos"/>
              </a:rPr>
              <a:t>The findings in this presentation describe the data currently represented in the Power BI dashboard.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731520"/>
            <a:ext cx="2743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9991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987552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ptos"/>
              </a:rPr>
              <a:t>A clearer view of healthcare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987552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DCE9EF"/>
                </a:solidFill>
                <a:latin typeface="Aptos"/>
              </a:rPr>
              <a:t>The six-page dashboard brings patient, financial, operational and experience indicators into one place.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429000"/>
            <a:ext cx="914400" cy="64008"/>
          </a:xfrm>
          <a:prstGeom prst="rect">
            <a:avLst/>
          </a:prstGeom>
          <a:solidFill>
            <a:srgbClr val="E4A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3017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09991"/>
                </a:solidFill>
                <a:latin typeface="Aptos"/>
              </a:rPr>
              <a:t>Priority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343400"/>
            <a:ext cx="9875520" cy="1554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Investigate the declining revenue pattern.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Use satisfaction ratings and comments to guide service improvement.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Extend the data model to cover missing clinical transactions.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63640"/>
            <a:ext cx="2743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2C8D3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1027</Words>
  <Application>Microsoft Office PowerPoint</Application>
  <PresentationFormat>Widescreen</PresentationFormat>
  <Paragraphs>151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Blessing Osazuwa</cp:lastModifiedBy>
  <cp:revision>2</cp:revision>
  <dcterms:created xsi:type="dcterms:W3CDTF">2013-01-27T09:14:16Z</dcterms:created>
  <dcterms:modified xsi:type="dcterms:W3CDTF">2026-10-25T15:52:52Z</dcterms:modified>
  <cp:category/>
</cp:coreProperties>
</file>